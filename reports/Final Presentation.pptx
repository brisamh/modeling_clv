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3" r:id="rId7"/>
    <p:sldId id="264" r:id="rId8"/>
    <p:sldId id="266" r:id="rId9"/>
    <p:sldId id="265" r:id="rId10"/>
    <p:sldId id="268" r:id="rId11"/>
    <p:sldId id="270" r:id="rId12"/>
    <p:sldId id="271" r:id="rId13"/>
    <p:sldId id="272" r:id="rId14"/>
    <p:sldId id="274" r:id="rId15"/>
    <p:sldId id="275" r:id="rId16"/>
    <p:sldId id="277" r:id="rId17"/>
    <p:sldId id="279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79637-A7B1-1B75-8E54-23F358E16EEB}" v="50" dt="2025-12-07T06:30:19.016"/>
    <p1510:client id="{FED38237-86DA-3C48-347C-61C3721E2F39}" v="12" dt="2025-12-08T03:33:00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FF6729-4B82-4186-9B1A-51313A2F2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7350" y="2331720"/>
            <a:ext cx="9332255" cy="2121515"/>
          </a:xfrm>
        </p:spPr>
        <p:txBody>
          <a:bodyPr/>
          <a:lstStyle/>
          <a:p>
            <a:r>
              <a:rPr lang="en-US" sz="3600" b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Lifetime Value: </a:t>
            </a:r>
          </a:p>
          <a:p>
            <a:r>
              <a:rPr lang="en-US" sz="2800" b="1" i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Modeling Customer Profile for Underwriting Optimization</a:t>
            </a:r>
            <a:endParaRPr lang="en-US" sz="2800" i="1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EFD1E-7575-1BA6-95BB-F5E8BB392AB9}"/>
              </a:ext>
            </a:extLst>
          </p:cNvPr>
          <p:cNvSpPr txBox="1"/>
          <p:nvPr/>
        </p:nvSpPr>
        <p:spPr>
          <a:xfrm>
            <a:off x="8675370" y="5955030"/>
            <a:ext cx="3516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81E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Brisa H, Njenga G, Rashmi K</a:t>
            </a:r>
            <a:endParaRPr lang="en-US" sz="1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30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74CC-3FEF-3F66-B620-3BB43673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1" y="656381"/>
            <a:ext cx="9812972" cy="9249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BEBDD-030F-CA14-3116-B840FC9CF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617" y="2015266"/>
            <a:ext cx="9568236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Predict Customer Lifetime Value (CLV) using customer profile data</a:t>
            </a:r>
          </a:p>
          <a:p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Assess profitability of prospective insurance customers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Determine whether predicted CLV meets the required profitability threshold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Identify features that strongly influence CLV</a:t>
            </a:r>
          </a:p>
        </p:txBody>
      </p:sp>
    </p:spTree>
    <p:extLst>
      <p:ext uri="{BB962C8B-B14F-4D97-AF65-F5344CB8AC3E}">
        <p14:creationId xmlns:p14="http://schemas.microsoft.com/office/powerpoint/2010/main" val="399911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117F-0640-2BFB-029E-DD35F26C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405" y="559586"/>
            <a:ext cx="9880207" cy="774384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C7237-EB71-840D-CC7D-53B2CE2F8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174" y="1851589"/>
            <a:ext cx="8915400" cy="462451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7150" lvl="1" indent="0">
              <a:lnSpc>
                <a:spcPct val="115000"/>
              </a:lnSpc>
              <a:buNone/>
            </a:pPr>
            <a:endParaRPr lang="en-US" sz="1800" dirty="0">
              <a:latin typeface="Times New Roman"/>
              <a:ea typeface="MS Mincho"/>
              <a:cs typeface="Times New Roman"/>
            </a:endParaRPr>
          </a:p>
          <a:p>
            <a:pPr marL="0">
              <a:lnSpc>
                <a:spcPct val="114999"/>
              </a:lnSpc>
            </a:pPr>
            <a:r>
              <a:rPr lang="en-US" sz="2000" dirty="0">
                <a:effectLst/>
                <a:latin typeface="Times New Roman"/>
                <a:ea typeface="MS Mincho"/>
                <a:cs typeface="Times New Roman"/>
              </a:rPr>
              <a:t>IBM Watson Marketing Customer Value dataset (Kaggle</a:t>
            </a:r>
            <a:r>
              <a:rPr lang="en-US" sz="2000" dirty="0">
                <a:latin typeface="Times New Roman"/>
                <a:ea typeface="MS Mincho"/>
                <a:cs typeface="Times New Roman"/>
              </a:rPr>
              <a:t>)</a:t>
            </a:r>
            <a:endParaRPr lang="en-US" dirty="0"/>
          </a:p>
          <a:p>
            <a:pPr marL="0">
              <a:lnSpc>
                <a:spcPct val="114999"/>
              </a:lnSpc>
            </a:pPr>
            <a:r>
              <a:rPr lang="en-US" sz="2000" dirty="0">
                <a:latin typeface="Times New Roman"/>
                <a:ea typeface="MS Mincho"/>
                <a:cs typeface="Times New Roman"/>
              </a:rPr>
              <a:t>Type: Structured Customer level insurance data</a:t>
            </a:r>
          </a:p>
          <a:p>
            <a:pPr marL="0">
              <a:lnSpc>
                <a:spcPct val="115000"/>
              </a:lnSpc>
            </a:pPr>
            <a:r>
              <a:rPr lang="en-US" sz="2000" dirty="0">
                <a:effectLst/>
                <a:latin typeface="Times New Roman"/>
                <a:ea typeface="MS Mincho"/>
                <a:cs typeface="Times New Roman"/>
              </a:rPr>
              <a:t>9,134 customers, 24 variables</a:t>
            </a:r>
          </a:p>
          <a:p>
            <a:pPr marL="0">
              <a:lnSpc>
                <a:spcPct val="115000"/>
              </a:lnSpc>
            </a:pPr>
            <a:r>
              <a:rPr lang="en-US" sz="2000" dirty="0">
                <a:effectLst/>
                <a:latin typeface="Times New Roman"/>
                <a:ea typeface="MS Mincho"/>
                <a:cs typeface="Times New Roman"/>
              </a:rPr>
              <a:t>It is a mix of demographic, 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behavioral</a:t>
            </a:r>
            <a:r>
              <a:rPr lang="en-US" sz="2000" dirty="0">
                <a:effectLst/>
                <a:latin typeface="Times New Roman"/>
                <a:cs typeface="Times New Roman"/>
              </a:rPr>
              <a:t>,</a:t>
            </a:r>
            <a:r>
              <a:rPr lang="en-US" sz="2000" dirty="0">
                <a:latin typeface="Times New Roman"/>
                <a:ea typeface="MS Mincho"/>
                <a:cs typeface="Times New Roman"/>
              </a:rPr>
              <a:t> </a:t>
            </a:r>
            <a:r>
              <a:rPr lang="en-US" sz="2000" dirty="0">
                <a:effectLst/>
                <a:latin typeface="Times New Roman"/>
                <a:ea typeface="MS Mincho"/>
                <a:cs typeface="Times New Roman"/>
              </a:rPr>
              <a:t>policy and vehicle characteristics</a:t>
            </a:r>
          </a:p>
          <a:p>
            <a:pPr marL="350520" indent="-340995">
              <a:lnSpc>
                <a:spcPct val="115000"/>
              </a:lnSpc>
            </a:pP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C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ategorical variables: State, Coverage type,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Education level, Employment Status Gender, Location Code,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Marital Status, Policy Type, Vehicle Class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,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and Vehicle Size</a:t>
            </a:r>
          </a:p>
          <a:p>
            <a:pPr marL="350520" indent="-340995">
              <a:lnSpc>
                <a:spcPct val="115000"/>
              </a:lnSpc>
            </a:pP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N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umerical variables: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Income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,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Monthly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Premium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,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Number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of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Policies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,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Total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Claim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Amount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, and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Months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Since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Last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Claim</a:t>
            </a:r>
            <a:r>
              <a:rPr lang="en-US" sz="2000" dirty="0">
                <a:effectLst/>
                <a:latin typeface="Times New Roman"/>
                <a:cs typeface="Times New Roman"/>
              </a:rPr>
              <a:t> </a:t>
            </a:r>
          </a:p>
          <a:p>
            <a:pPr marL="350520" indent="-340995">
              <a:lnSpc>
                <a:spcPct val="115000"/>
              </a:lnSpc>
            </a:pP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S</a:t>
            </a:r>
            <a:r>
              <a:rPr lang="en-US" sz="2000" kern="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ingle CSV file: no </a:t>
            </a:r>
            <a:r>
              <a:rPr lang="en-US" sz="2000" kern="0" dirty="0">
                <a:latin typeface="Times New Roman"/>
                <a:ea typeface="Times New Roman" panose="02020603050405020304" pitchFamily="18" charset="0"/>
                <a:cs typeface="Times New Roman"/>
              </a:rPr>
              <a:t>merging, </a:t>
            </a:r>
            <a:r>
              <a:rPr lang="en-US" sz="2000" kern="0" dirty="0">
                <a:latin typeface="Times New Roman"/>
                <a:ea typeface="MS Mincho"/>
                <a:cs typeface="Times New Roman"/>
              </a:rPr>
              <a:t>No Missing values: no imputation</a:t>
            </a:r>
            <a:endParaRPr lang="en-US" sz="2000" dirty="0">
              <a:effectLst/>
              <a:latin typeface="Times New Roman"/>
              <a:ea typeface="MS Mincho"/>
              <a:cs typeface="Times New Roman"/>
            </a:endParaRPr>
          </a:p>
          <a:p>
            <a:pPr marL="350520" indent="-340995">
              <a:lnSpc>
                <a:spcPct val="114999"/>
              </a:lnSpc>
            </a:pPr>
            <a:r>
              <a:rPr lang="en-US" sz="2000" kern="0" dirty="0">
                <a:latin typeface="Times New Roman"/>
                <a:ea typeface="MS Mincho"/>
                <a:cs typeface="Times New Roman"/>
              </a:rPr>
              <a:t>No Privacy concerns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1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2DE1-49C0-1C28-2F36-4C4A7C1A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47" y="624110"/>
            <a:ext cx="9890965" cy="1280890"/>
          </a:xfrm>
        </p:spPr>
        <p:txBody>
          <a:bodyPr/>
          <a:lstStyle/>
          <a:p>
            <a:pPr algn="ctr"/>
            <a:r>
              <a:rPr lang="en-US" sz="3600" b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Exploratory Data Analysis (EDA)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A7B69-1863-BBDB-06C5-4C6BBB239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901" y="2069054"/>
            <a:ext cx="8915400" cy="416483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900">
                <a:latin typeface="Times New Roman"/>
                <a:ea typeface="MS Mincho"/>
                <a:cs typeface="Times New Roman"/>
              </a:rPr>
              <a:t>Analyzed Categorical columns-Proportion of CLV against each category</a:t>
            </a:r>
          </a:p>
          <a:p>
            <a:endParaRPr lang="en-US" sz="290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900">
                <a:latin typeface="Times New Roman"/>
                <a:ea typeface="MS Mincho"/>
                <a:cs typeface="Times New Roman"/>
              </a:rPr>
              <a:t>Numerical statistics of Average CLV against each category</a:t>
            </a:r>
          </a:p>
          <a:p>
            <a:endParaRPr lang="en-US" sz="290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/>
                <a:ea typeface="MS Mincho"/>
                <a:cs typeface="Times New Roman"/>
              </a:rPr>
              <a:t>Explored the distributions of the numerical columns</a:t>
            </a:r>
          </a:p>
          <a:p>
            <a:endParaRPr lang="en-US" sz="290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900">
                <a:latin typeface="Times New Roman"/>
                <a:ea typeface="MS Mincho"/>
                <a:cs typeface="Times New Roman"/>
              </a:rPr>
              <a:t>Box plots of our numerical data to view outlier</a:t>
            </a:r>
          </a:p>
          <a:p>
            <a:endParaRPr lang="en-US" sz="290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900">
                <a:latin typeface="Times New Roman"/>
                <a:ea typeface="MS Mincho"/>
                <a:cs typeface="Times New Roman"/>
              </a:rPr>
              <a:t>Analyzing Relationships Between Variables using </a:t>
            </a:r>
            <a:r>
              <a:rPr lang="en-US" sz="2900" err="1">
                <a:latin typeface="Times New Roman"/>
                <a:ea typeface="MS Mincho"/>
                <a:cs typeface="Times New Roman"/>
              </a:rPr>
              <a:t>Pairplots</a:t>
            </a:r>
          </a:p>
          <a:p>
            <a:endParaRPr lang="en-US" sz="290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900">
                <a:latin typeface="Times New Roman"/>
                <a:ea typeface="MS Mincho"/>
                <a:cs typeface="Times New Roman"/>
              </a:rPr>
              <a:t>Identifying Interactions</a:t>
            </a:r>
            <a:endParaRPr lang="en-US" sz="2400">
              <a:latin typeface="Times New Roman"/>
              <a:ea typeface="MS Mincho"/>
              <a:cs typeface="Times New Roman"/>
            </a:endParaRPr>
          </a:p>
          <a:p>
            <a:endParaRPr lang="en-US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7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9438BA-E8AC-F89E-5C45-24ADA99A3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44" y="635000"/>
            <a:ext cx="5016500" cy="311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AE19A8-77D3-5A9D-7E2A-CDA0E1A2D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313" y="625808"/>
            <a:ext cx="6307567" cy="311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22FC4C-70D1-4AE6-E65D-E829EA09E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44" y="3746500"/>
            <a:ext cx="5016500" cy="311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DCE7FD-4F7C-3A29-615B-1336607BC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063" y="3756526"/>
            <a:ext cx="6178475" cy="3111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836FB3-89B5-2649-8556-C235D47574F8}"/>
              </a:ext>
            </a:extLst>
          </p:cNvPr>
          <p:cNvSpPr txBox="1"/>
          <p:nvPr/>
        </p:nvSpPr>
        <p:spPr>
          <a:xfrm>
            <a:off x="2278996" y="75304"/>
            <a:ext cx="706026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Various category labels vs proportion of CLV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F8C5-47EA-33F5-0B58-F91124A0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826" y="43299"/>
            <a:ext cx="8911687" cy="4731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Distributions of the numerical columns</a:t>
            </a:r>
            <a:br>
              <a:rPr lang="en-US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6474D-510D-6105-5A67-C764A1CA1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7" y="624707"/>
            <a:ext cx="5627443" cy="3167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D3A0EC-B135-A463-B52C-DA7AF8F1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36" y="3791772"/>
            <a:ext cx="5621373" cy="3066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ED7E52-6259-93BD-46B2-AC0E10045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010" y="753060"/>
            <a:ext cx="6183353" cy="29103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0EB369-8175-1B0E-69D7-8293EFE08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371" y="3904343"/>
            <a:ext cx="6032992" cy="291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D42A-DCAC-5EB6-2005-65AFBB3E8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67" y="18271"/>
            <a:ext cx="8911687" cy="812800"/>
          </a:xfrm>
        </p:spPr>
        <p:txBody>
          <a:bodyPr>
            <a:normAutofit fontScale="90000"/>
          </a:bodyPr>
          <a:lstStyle/>
          <a:p>
            <a:r>
              <a:rPr lang="en-US" sz="2800" b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Analyzing Relationships Between Variables</a:t>
            </a:r>
            <a:br>
              <a:rPr lang="en-US" sz="2800" b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2800" b="1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66D8A4-C254-888E-EA7B-A954D1D7A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71" y="567443"/>
            <a:ext cx="12017829" cy="616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865-FB71-5E32-A12D-745453B2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949" y="473336"/>
            <a:ext cx="10165645" cy="123712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“Striped” pattern : CLV Vs monthly premium</a:t>
            </a:r>
            <a:r>
              <a:rPr lang="en-US" sz="2500" b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52705D-EA2A-3659-37F8-38C95EAC6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38" y="2245659"/>
            <a:ext cx="11998362" cy="236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9505-816D-2ACC-4E77-51EBC5D8C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498" y="87086"/>
            <a:ext cx="8911687" cy="5805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Relationships with categorical data as hue</a:t>
            </a:r>
            <a:br>
              <a:rPr lang="en-US" sz="2800" b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CD4DFD-9222-8546-9FED-58638F79F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3638" y="739096"/>
            <a:ext cx="11998362" cy="15932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10182-C0F6-C051-C64C-E5BD53182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38" y="2332317"/>
            <a:ext cx="11998362" cy="1593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44DF53-8516-E2D4-786F-3EEFDD5A1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38" y="3925537"/>
            <a:ext cx="11998362" cy="1593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DE5AB-F2C8-A47C-7951-1EEE698CE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38" y="5518757"/>
            <a:ext cx="11998361" cy="133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9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1D33C3-D967-CBBC-AA0A-B03EC65FB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73" y="713866"/>
            <a:ext cx="12062908" cy="6144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8A9573-C565-14F7-201D-8F1BC4CC6554}"/>
              </a:ext>
            </a:extLst>
          </p:cNvPr>
          <p:cNvSpPr txBox="1"/>
          <p:nvPr/>
        </p:nvSpPr>
        <p:spPr>
          <a:xfrm>
            <a:off x="1645921" y="0"/>
            <a:ext cx="840172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MS Mincho"/>
                <a:cs typeface="Times New Roman"/>
              </a:rPr>
              <a:t>  Unusual Pattern when number of policy is 2</a:t>
            </a:r>
          </a:p>
        </p:txBody>
      </p:sp>
    </p:spTree>
    <p:extLst>
      <p:ext uri="{BB962C8B-B14F-4D97-AF65-F5344CB8AC3E}">
        <p14:creationId xmlns:p14="http://schemas.microsoft.com/office/powerpoint/2010/main" val="2778189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11B1-A076-11FD-F1C3-5C418B38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375" y="624110"/>
            <a:ext cx="9923238" cy="1280890"/>
          </a:xfrm>
        </p:spPr>
        <p:txBody>
          <a:bodyPr/>
          <a:lstStyle/>
          <a:p>
            <a:r>
              <a:rPr lang="en-US" sz="3600" b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Key Finding : Two-Policy Customers</a:t>
            </a:r>
            <a:br>
              <a:rPr lang="en-US" sz="3600" b="1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0A7AF-D09F-E7FC-6534-C345E2ABC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effectLst/>
                <a:latin typeface="Times New Roman"/>
                <a:ea typeface="MS Mincho"/>
                <a:cs typeface="Times New Roman"/>
              </a:rPr>
              <a:t>Irregular and difficult to interpret trends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effectLst/>
                <a:latin typeface="Times New Roman"/>
                <a:ea typeface="MS Mincho"/>
                <a:cs typeface="Times New Roman"/>
              </a:rPr>
              <a:t>Did not follow patterns of other policy groups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effectLst/>
                <a:latin typeface="Times New Roman"/>
                <a:ea typeface="MS Mincho"/>
                <a:cs typeface="Times New Roman"/>
              </a:rPr>
              <a:t>Handled separately in modeling to improve performance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72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B514-1F5C-E7F2-2222-1471A05FC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013" y="538070"/>
            <a:ext cx="8911687" cy="946506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06D21-CA3A-AD22-922F-A50BFEB99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481489"/>
            <a:ext cx="8906220" cy="45957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53010"/>
                </a:solidFill>
                <a:latin typeface="Wingdings 3"/>
                <a:cs typeface="Times New Roman"/>
                <a:sym typeface="Wingdings 3"/>
              </a:rPr>
              <a:t>´ </a:t>
            </a:r>
            <a:r>
              <a:rPr lang="en-US" sz="2000" b="1" dirty="0">
                <a:latin typeface="Times New Roman"/>
                <a:cs typeface="Times New Roman"/>
              </a:rPr>
              <a:t>Problem Type</a:t>
            </a:r>
            <a:endParaRPr lang="en-US"/>
          </a:p>
          <a:p>
            <a:pPr marL="0" indent="0">
              <a:buNone/>
            </a:pPr>
            <a:r>
              <a:rPr lang="en-US" sz="2000" dirty="0">
                <a:solidFill>
                  <a:srgbClr val="A53010"/>
                </a:solidFill>
                <a:latin typeface="Arial"/>
                <a:cs typeface="Arial"/>
              </a:rPr>
              <a:t>•    </a:t>
            </a:r>
            <a:r>
              <a:rPr lang="en-US" sz="2000" dirty="0">
                <a:latin typeface="Times New Roman"/>
                <a:cs typeface="Times New Roman"/>
              </a:rPr>
              <a:t>Supervised Regression</a:t>
            </a:r>
            <a:endParaRPr lang="en-US" sz="2000" dirty="0"/>
          </a:p>
          <a:p>
            <a:pPr marL="0" indent="0">
              <a:buNone/>
            </a:pPr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 6 Approaches Used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 Five Ordinary Least Squares (OLS) regression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 One Random Forest model to capture non-linear patterns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 Pre-Processing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 Categorical variables converted to binary indicators using one-hot encoding</a:t>
            </a:r>
          </a:p>
          <a:p>
            <a:pPr marL="400050" indent="-4000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Numeric predictors kept on original scale since no normalization needed based on EDA.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50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02F8-032F-3546-A972-E4D735ED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44" y="484260"/>
            <a:ext cx="8911687" cy="1280890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6701-608C-610D-5F92-18DBF4B21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49100"/>
            <a:ext cx="8915400" cy="482463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Approach</a:t>
            </a:r>
            <a:r>
              <a:rPr lang="en-US" sz="2000" b="1" dirty="0">
                <a:latin typeface="Times New Roman"/>
                <a:cs typeface="Times New Roman"/>
              </a:rPr>
              <a:t> 1: Baseline 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Built an initial Ordinary Least Squares (OLS) model using all customer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Used this as our baseline to compare later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Reviewed R-squared, coefficients, and p-values to see which factors influence CLV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Noticed unusual patterns among customers with exactly two policies, leading us to consider segmentation or alternative modeling approaches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Approach 4: Single Policy OLS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Created nine separate OLS models, each for a specific policy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Only included statistically significant predictors in each subgroup model to reduce noise</a:t>
            </a:r>
          </a:p>
        </p:txBody>
      </p:sp>
    </p:spTree>
    <p:extLst>
      <p:ext uri="{BB962C8B-B14F-4D97-AF65-F5344CB8AC3E}">
        <p14:creationId xmlns:p14="http://schemas.microsoft.com/office/powerpoint/2010/main" val="1305485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CA4C-1198-F6D7-EC5B-9249A538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435" y="581080"/>
            <a:ext cx="8911687" cy="1280890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02BC0-A7F4-31C6-38E7-FC675704F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7927" y="2102904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Approach 6: Random Forest Regressor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Applied a Random Forest Regressor to capture non-linear relationships in CLV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Used train and test split to evaluate generalization using test-set R-squared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Performance was still affected by the two-policy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Re-trained the model excluding customers with exactly two policies to stabilize predictions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919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8C38-CFFE-4B94-6F53-84E90B08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069" y="236834"/>
            <a:ext cx="8911687" cy="10433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Results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8B9BCC6-2DFA-5EE4-B818-139ED5118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082111"/>
              </p:ext>
            </p:extLst>
          </p:nvPr>
        </p:nvGraphicFramePr>
        <p:xfrm>
          <a:off x="1584850" y="1273570"/>
          <a:ext cx="9861285" cy="4922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5634">
                  <a:extLst>
                    <a:ext uri="{9D8B030D-6E8A-4147-A177-3AD203B41FA5}">
                      <a16:colId xmlns:a16="http://schemas.microsoft.com/office/drawing/2014/main" val="2010832672"/>
                    </a:ext>
                  </a:extLst>
                </a:gridCol>
                <a:gridCol w="4474981">
                  <a:extLst>
                    <a:ext uri="{9D8B030D-6E8A-4147-A177-3AD203B41FA5}">
                      <a16:colId xmlns:a16="http://schemas.microsoft.com/office/drawing/2014/main" val="136577253"/>
                    </a:ext>
                  </a:extLst>
                </a:gridCol>
                <a:gridCol w="3540670">
                  <a:extLst>
                    <a:ext uri="{9D8B030D-6E8A-4147-A177-3AD203B41FA5}">
                      <a16:colId xmlns:a16="http://schemas.microsoft.com/office/drawing/2014/main" val="3209249625"/>
                    </a:ext>
                  </a:extLst>
                </a:gridCol>
              </a:tblGrid>
              <a:tr h="3274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/>
                          <a:cs typeface="Times New Roman"/>
                        </a:rPr>
                        <a:t>Approaches</a:t>
                      </a:r>
                    </a:p>
                  </a:txBody>
                  <a:tcPr marL="60458" marR="604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/>
                          <a:cs typeface="Times New Roman"/>
                        </a:rPr>
                        <a:t>Description</a:t>
                      </a:r>
                      <a:endParaRPr lang="en-US" sz="14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0458" marR="604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/>
                          <a:cs typeface="Times New Roman"/>
                        </a:rPr>
                        <a:t>R-squared</a:t>
                      </a:r>
                      <a:endParaRPr lang="en-US" sz="14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0458" marR="604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073382"/>
                  </a:ext>
                </a:extLst>
              </a:tr>
              <a:tr h="469894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 1</a:t>
                      </a: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OLS regression with all variables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0.160</a:t>
                      </a:r>
                      <a:endParaRPr lang="en-US" sz="1400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33688"/>
                  </a:ext>
                </a:extLst>
              </a:tr>
              <a:tr h="591719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 2</a:t>
                      </a: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OLS regression omitting policies with CLV above the 75</a:t>
                      </a:r>
                      <a:r>
                        <a:rPr lang="en-US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percentile of 2-Policy customers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0.247</a:t>
                      </a:r>
                      <a:endParaRPr lang="en-US" sz="1400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235786"/>
                  </a:ext>
                </a:extLst>
              </a:tr>
              <a:tr h="469894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 3</a:t>
                      </a: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OLS with two-policy dummy and interaction term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0.666</a:t>
                      </a:r>
                      <a:endParaRPr lang="en-US" sz="1400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215325"/>
                  </a:ext>
                </a:extLst>
              </a:tr>
              <a:tr h="469894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 3a</a:t>
                      </a: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Reduced OLS model (premium + interaction term)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0.627</a:t>
                      </a:r>
                      <a:endParaRPr lang="en-US" sz="1400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146434"/>
                  </a:ext>
                </a:extLst>
              </a:tr>
              <a:tr h="1183438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 4</a:t>
                      </a: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OLS models by policy count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25" indent="0"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1pol: 0.996,</a:t>
                      </a:r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2pol: 0.326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3pol: 0.995</a:t>
                      </a:r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,</a:t>
                      </a:r>
                    </a:p>
                    <a:p>
                      <a:pPr marL="9525" indent="0"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4pol: 0.995, 5pol: 0.995,</a:t>
                      </a:r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6pol: 0.994</a:t>
                      </a:r>
                    </a:p>
                    <a:p>
                      <a:pPr marL="9525" indent="0"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7pol: 0.993,</a:t>
                      </a:r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8pol: 0.995,</a:t>
                      </a:r>
                      <a:r>
                        <a:rPr 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9pol: 0.996</a:t>
                      </a:r>
                      <a:endParaRPr lang="en-US" sz="1400" b="1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245367"/>
                  </a:ext>
                </a:extLst>
              </a:tr>
              <a:tr h="470772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 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endParaRPr lang="en-US" sz="1400" b="1" kern="10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OLS regression excluding two-policy customers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0.796</a:t>
                      </a:r>
                      <a:endParaRPr lang="en-US" sz="1400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456427"/>
                  </a:ext>
                </a:extLst>
              </a:tr>
              <a:tr h="469894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 5a</a:t>
                      </a: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OLS regression with exactly two-policy customers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0.340</a:t>
                      </a:r>
                      <a:endParaRPr lang="en-US" sz="1400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637879"/>
                  </a:ext>
                </a:extLst>
              </a:tr>
              <a:tr h="469894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00" noProof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Approach</a:t>
                      </a: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 6</a:t>
                      </a: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Random Forest model excluding two-policy customers</a:t>
                      </a:r>
                      <a:endParaRPr lang="en-US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0.996</a:t>
                      </a:r>
                      <a:endParaRPr lang="en-US" sz="1400" b="1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500" marR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86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183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F5DD-E951-839E-E69A-F5995F03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334" y="214246"/>
            <a:ext cx="8911687" cy="128089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–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3D752-8087-25E2-2D1B-D7BB0E119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995" y="973850"/>
            <a:ext cx="10083140" cy="54939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Policy count </a:t>
            </a:r>
            <a:r>
              <a:rPr lang="en-US" dirty="0">
                <a:latin typeface="Times New Roman"/>
                <a:cs typeface="Times New Roman"/>
              </a:rPr>
              <a:t>is the strongest driver of model performance, especially the unique behavior of customers with exactly two policies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Approach 1 &amp; 2 (Baseline  &amp; 75</a:t>
            </a:r>
            <a:r>
              <a:rPr lang="en-US" b="1" baseline="30000" dirty="0">
                <a:latin typeface="Times New Roman"/>
                <a:cs typeface="Times New Roman"/>
              </a:rPr>
              <a:t>th</a:t>
            </a:r>
            <a:r>
              <a:rPr lang="en-US" b="1" dirty="0">
                <a:latin typeface="Times New Roman"/>
                <a:cs typeface="Times New Roman"/>
              </a:rPr>
              <a:t> percentile OLS approaches)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Did not perform well because they did not explicitly account for policy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Stratification in monthly premium for two-policy customers remained unaddressed</a:t>
            </a:r>
          </a:p>
          <a:p>
            <a:r>
              <a:rPr lang="en-US" b="1" dirty="0">
                <a:latin typeface="Times New Roman"/>
                <a:cs typeface="Times New Roman"/>
              </a:rPr>
              <a:t>Approach 3: Interaction Based OLS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Addressed the number of policy directly by adding a binary two-policy flag and an interaction with monthly premium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Captured the “striped pattern” observed in EDA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Improved performance to R² = 0.666, but still limited compared to later models</a:t>
            </a:r>
          </a:p>
        </p:txBody>
      </p:sp>
      <p:pic>
        <p:nvPicPr>
          <p:cNvPr id="4" name="Picture 3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B2B70658-87B0-5060-5033-D828D1C80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28" y="1687451"/>
            <a:ext cx="9353261" cy="174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45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837B8-25D9-CBFA-BE05-C5A6392F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– Key Takeaways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DADBE-7DBF-B183-2C3D-160DB71CA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416" y="2112085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Approach 4: Single Policy OLS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Each policy-count group has its own model;  predictions are made using the model for that specific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Produces extremely high performance for all groups except two policy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Provides high model explainability, which is valuable in a regulated 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The improvement from Approach 4 justifies the extra effort when explainability is a key consideration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 simplified version (Approach 5) drops two-policy customers and uses one OLS model, but its R-squared (0.796) is notably lower than the individual models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2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4C26-8B71-91DE-CD11-C6C6F0DE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– Key Takeaways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41DB-1E44-1E0E-1769-507934AEC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724" y="1543556"/>
            <a:ext cx="8915400" cy="46903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Approach 6: Random Forest Regressor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Random Forest Regressor our highest-performing model when excluding two-policy customers (R-squared = 0.996)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Offers strong predictive power with more convenience , but with reduced explainability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When including all customers, Random Forest achieves only 0.686 R-squared, slightly better than the interaction-based OLS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01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55CD-DA33-6D9C-3593-3BD5DA40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FDF6-9236-0B8F-9BB1-1C68EA6F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143" y="1905000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All models struggle specifically with customers who have exactly two policies</a:t>
            </a:r>
          </a:p>
          <a:p>
            <a:r>
              <a:rPr lang="en-US" sz="2000" dirty="0">
                <a:latin typeface="Times New Roman"/>
                <a:cs typeface="Times New Roman"/>
              </a:rPr>
              <a:t>No variables in the dataset explain the variation in their premiums or CLV.</a:t>
            </a:r>
          </a:p>
          <a:p>
            <a:r>
              <a:rPr lang="en-US" sz="2000" dirty="0">
                <a:latin typeface="Times New Roman"/>
                <a:cs typeface="Times New Roman"/>
              </a:rPr>
              <a:t>Recommendation: collect more data or conduct deeper analysis to understand two-policy customers; for now, use either</a:t>
            </a:r>
          </a:p>
          <a:p>
            <a:pPr indent="3492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 Segmented OLS models (Approach 4) or</a:t>
            </a:r>
          </a:p>
          <a:p>
            <a:pPr marL="746125" indent="-39497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Random Forest excluding two-policy customers depending on the needed level of explainability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81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B8CE-BBCD-D0FD-F451-47E70D15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FAD2E-D43C-7856-6C62-076E76710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447" y="1841351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Goal: build a reliable tool to estimate customer CLV from application</a:t>
            </a:r>
          </a:p>
          <a:p>
            <a:r>
              <a:rPr lang="en-US" sz="2000">
                <a:latin typeface="Times New Roman"/>
                <a:cs typeface="Times New Roman"/>
              </a:rPr>
              <a:t>Two strong models identified:</a:t>
            </a:r>
          </a:p>
          <a:p>
            <a:pPr marL="80137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Policy-specific OLS models (high explainability)</a:t>
            </a:r>
          </a:p>
          <a:p>
            <a:pPr marL="80137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Random Forest without two-policy customers (high accuracy, single model)</a:t>
            </a:r>
          </a:p>
          <a:p>
            <a:r>
              <a:rPr lang="en-US" sz="2000">
                <a:latin typeface="Times New Roman"/>
                <a:cs typeface="Times New Roman"/>
              </a:rPr>
              <a:t>Both models can guide decisions on which policies are worth writing</a:t>
            </a:r>
          </a:p>
          <a:p>
            <a:r>
              <a:rPr lang="en-US" sz="2000">
                <a:latin typeface="Times New Roman"/>
                <a:cs typeface="Times New Roman"/>
              </a:rPr>
              <a:t>Main limitation: CLV cannot be predicted well for two-policy customers</a:t>
            </a:r>
          </a:p>
          <a:p>
            <a:r>
              <a:rPr lang="en-US" sz="2000">
                <a:latin typeface="Times New Roman"/>
                <a:cs typeface="Times New Roman"/>
              </a:rPr>
              <a:t>Further data is needed to understand their unusual premium behavior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20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BCD3F-EE0A-57BB-9763-AE2348E2E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2237" y="2144358"/>
            <a:ext cx="891540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 sz="360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3600">
                <a:latin typeface="Times New Roman"/>
                <a:cs typeface="Times New Roman"/>
              </a:rPr>
              <a:t>Thank You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352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Override1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ppt/theme/themeOverride2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ppt/theme/themeOverride3.xml><?xml version="1.0" encoding="utf-8"?>
<a:themeOverride xmlns:a="http://schemas.openxmlformats.org/drawingml/2006/main">
  <a:clrScheme name="Wisp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Wisp</vt:lpstr>
      <vt:lpstr>PowerPoint Presentation</vt:lpstr>
      <vt:lpstr>Introduction  </vt:lpstr>
      <vt:lpstr>Dataset Overview</vt:lpstr>
      <vt:lpstr>Exploratory Data Analysis (EDA)</vt:lpstr>
      <vt:lpstr>PowerPoint Presentation</vt:lpstr>
      <vt:lpstr>Distributions of the numerical columns </vt:lpstr>
      <vt:lpstr>Analyzing Relationships Between Variables </vt:lpstr>
      <vt:lpstr> “Striped” pattern : CLV Vs monthly premium.</vt:lpstr>
      <vt:lpstr>Relationships with categorical data as hue  </vt:lpstr>
      <vt:lpstr>PowerPoint Presentation</vt:lpstr>
      <vt:lpstr>Key Finding : Two-Policy Customers </vt:lpstr>
      <vt:lpstr>Modeling approach</vt:lpstr>
      <vt:lpstr>Modeling approach</vt:lpstr>
      <vt:lpstr>Modeling approach</vt:lpstr>
      <vt:lpstr>Computation Results </vt:lpstr>
      <vt:lpstr>Interpretation – Key Takeaways</vt:lpstr>
      <vt:lpstr>Interpretation – Key Takeaways</vt:lpstr>
      <vt:lpstr>Interpretation – Key Takeaways</vt:lpstr>
      <vt:lpstr>Key Challenges and Next Steps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Kamath</dc:creator>
  <cp:revision>300</cp:revision>
  <dcterms:created xsi:type="dcterms:W3CDTF">2025-11-22T19:33:12Z</dcterms:created>
  <dcterms:modified xsi:type="dcterms:W3CDTF">2025-12-10T08:09:59Z</dcterms:modified>
</cp:coreProperties>
</file>